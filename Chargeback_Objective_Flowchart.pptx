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42D6C5"/>
                </a:solidFill>
                <a:latin typeface="Aptos"/>
              </a:defRPr>
            </a:pPr>
            <a:r>
              <a:t>USE CASE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800" b="1">
                <a:solidFill>
                  <a:srgbClr val="F4F7FB"/>
                </a:solidFill>
                <a:latin typeface="Aptos"/>
              </a:defRPr>
            </a:pPr>
            <a:r>
              <a:t>Help analysts resolve chargebacks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881360" cy="16459"/>
          </a:xfrm>
          <a:prstGeom prst="rect">
            <a:avLst/>
          </a:prstGeom>
          <a:solidFill>
            <a:srgbClr val="42536A"/>
          </a:solidFill>
          <a:ln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1014984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2200" b="1">
                <a:solidFill>
                  <a:srgbClr val="F4F7FB"/>
                </a:solidFill>
                <a:latin typeface="Aptos"/>
              </a:defRPr>
            </a:pPr>
            <a:r>
              <a:t>Investigate with cited evidence, recommend a policy-grounded action, and escalate uncertain cases for timely human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4069080"/>
            <a:ext cx="2148840" cy="713232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42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39696" y="4105656"/>
            <a:ext cx="198424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Evidence-backed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10912" y="4069080"/>
            <a:ext cx="2148840" cy="713232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6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3208" y="4105656"/>
            <a:ext cx="198424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Consistent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4069080"/>
            <a:ext cx="2148840" cy="713232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F5C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5864" y="4105656"/>
            <a:ext cx="198424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Human oversight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06440"/>
            <a:ext cx="101498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A9B8CA"/>
                </a:solidFill>
                <a:latin typeface="Aptos"/>
              </a:defRPr>
            </a:pPr>
            <a:r>
              <a:t>ACCEPT  ?  CONTEST  ?  REQUEST_MORE_INFO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00" b="1">
                <a:solidFill>
                  <a:srgbClr val="42D6C5"/>
                </a:solidFill>
                <a:latin typeface="Aptos"/>
              </a:defRPr>
            </a:pPr>
            <a:r>
              <a:t>INVESTIGATION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8813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800" b="1">
                <a:solidFill>
                  <a:srgbClr val="F4F7FB"/>
                </a:solidFill>
                <a:latin typeface="Aptos"/>
              </a:defRPr>
            </a:pPr>
            <a:r>
              <a:t>From case intake to auditable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881360" cy="16459"/>
          </a:xfrm>
          <a:prstGeom prst="rect">
            <a:avLst/>
          </a:prstGeom>
          <a:solidFill>
            <a:srgbClr val="42536A"/>
          </a:solidFill>
          <a:ln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874519" cy="932688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6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185416"/>
            <a:ext cx="17099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4F7FB"/>
                </a:solidFill>
                <a:latin typeface="Aptos"/>
              </a:defRPr>
            </a:pPr>
            <a:r>
              <a:t>Submit case</a:t>
            </a:r>
            <a:br/>
            <a:r>
              <a:t>+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48840"/>
            <a:ext cx="1874519" cy="932688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F5C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5496" y="2185416"/>
            <a:ext cx="17099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4F7FB"/>
                </a:solidFill>
                <a:latin typeface="Aptos"/>
              </a:defRPr>
            </a:pPr>
            <a:r>
              <a:t>Extract text</a:t>
            </a:r>
            <a:br/>
            <a:r>
              <a:t>+ guard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2148840"/>
            <a:ext cx="1874519" cy="932688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42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65776" y="2185416"/>
            <a:ext cx="17099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4F7FB"/>
                </a:solidFill>
                <a:latin typeface="Aptos"/>
              </a:defRPr>
            </a:pPr>
            <a:r>
              <a:t>Investigate</a:t>
            </a:r>
            <a:br/>
            <a:r>
              <a:t>with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1874519" cy="932688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7BD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06056" y="2185416"/>
            <a:ext cx="17099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4F7FB"/>
                </a:solidFill>
                <a:latin typeface="Aptos"/>
              </a:defRPr>
            </a:pPr>
            <a:r>
              <a:t>Apply deterministic</a:t>
            </a:r>
            <a:br/>
            <a:r>
              <a:t>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148840"/>
            <a:ext cx="1874519" cy="932688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42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2185416"/>
            <a:ext cx="1709928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4F7FB"/>
                </a:solidFill>
                <a:latin typeface="Aptos"/>
              </a:defRPr>
            </a:pPr>
            <a:r>
              <a:t>Recommend</a:t>
            </a:r>
            <a:br/>
            <a:r>
              <a:t>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59" y="2615184"/>
            <a:ext cx="246889" cy="0"/>
          </a:xfrm>
          <a:prstGeom prst="line">
            <a:avLst/>
          </a:prstGeom>
          <a:ln w="21590">
            <a:solidFill>
              <a:srgbClr val="42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63440" y="2615184"/>
            <a:ext cx="246888" cy="0"/>
          </a:xfrm>
          <a:prstGeom prst="line">
            <a:avLst/>
          </a:prstGeom>
          <a:ln w="21590">
            <a:solidFill>
              <a:srgbClr val="42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03720" y="2615184"/>
            <a:ext cx="246888" cy="0"/>
          </a:xfrm>
          <a:prstGeom prst="line">
            <a:avLst/>
          </a:prstGeom>
          <a:ln w="21590">
            <a:solidFill>
              <a:srgbClr val="42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0" y="2615184"/>
            <a:ext cx="246888" cy="0"/>
          </a:xfrm>
          <a:prstGeom prst="line">
            <a:avLst/>
          </a:prstGeom>
          <a:ln w="21590">
            <a:solidFill>
              <a:srgbClr val="42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0120" y="4160520"/>
            <a:ext cx="2651760" cy="749808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F5C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4197096"/>
            <a:ext cx="2487168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4F7FB"/>
                </a:solidFill>
                <a:latin typeface="Aptos"/>
              </a:defRPr>
            </a:pPr>
            <a:r>
              <a:t>Analyst review</a:t>
            </a:r>
            <a:br/>
            <a:r>
              <a:t>if uncertain / high-risk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160520"/>
            <a:ext cx="2651760" cy="749808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66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4197096"/>
            <a:ext cx="2487168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4F7FB"/>
                </a:solidFill>
                <a:latin typeface="Aptos"/>
              </a:defRPr>
            </a:pPr>
            <a:r>
              <a:t>Representment draft</a:t>
            </a:r>
            <a:br/>
            <a:r>
              <a:t>if CONTEST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4160520"/>
            <a:ext cx="2651760" cy="749808"/>
          </a:xfrm>
          <a:prstGeom prst="roundRect">
            <a:avLst/>
          </a:prstGeom>
          <a:solidFill>
            <a:srgbClr val="17263A"/>
          </a:solidFill>
          <a:ln w="19050">
            <a:solidFill>
              <a:srgbClr val="7BD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1936" y="4197096"/>
            <a:ext cx="2487168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300" b="1">
                <a:solidFill>
                  <a:srgbClr val="F4F7FB"/>
                </a:solidFill>
                <a:latin typeface="Aptos"/>
              </a:defRPr>
            </a:pPr>
            <a:r>
              <a:t>Save case + audit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378440" y="3127248"/>
            <a:ext cx="0" cy="667512"/>
          </a:xfrm>
          <a:prstGeom prst="line">
            <a:avLst/>
          </a:prstGeom>
          <a:ln w="21590">
            <a:solidFill>
              <a:srgbClr val="42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286000" y="3794760"/>
            <a:ext cx="8092440" cy="0"/>
          </a:xfrm>
          <a:prstGeom prst="line">
            <a:avLst/>
          </a:prstGeom>
          <a:ln w="21590">
            <a:solidFill>
              <a:srgbClr val="42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86000" y="3794760"/>
            <a:ext cx="0" cy="320040"/>
          </a:xfrm>
          <a:prstGeom prst="line">
            <a:avLst/>
          </a:prstGeom>
          <a:ln w="21590">
            <a:solidFill>
              <a:srgbClr val="F5C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3794760"/>
            <a:ext cx="3794760" cy="320040"/>
          </a:xfrm>
          <a:prstGeom prst="line">
            <a:avLst/>
          </a:prstGeom>
          <a:ln w="21590">
            <a:solidFill>
              <a:srgbClr val="66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21024" y="4535424"/>
            <a:ext cx="4837176" cy="0"/>
          </a:xfrm>
          <a:prstGeom prst="line">
            <a:avLst/>
          </a:prstGeom>
          <a:ln w="21590">
            <a:solidFill>
              <a:srgbClr val="7BD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15783" y="4535424"/>
            <a:ext cx="1042417" cy="0"/>
          </a:xfrm>
          <a:prstGeom prst="line">
            <a:avLst/>
          </a:prstGeom>
          <a:ln w="21590">
            <a:solidFill>
              <a:srgbClr val="7BD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200" b="0">
                <a:solidFill>
                  <a:srgbClr val="A9B8CA"/>
                </a:solidFill>
                <a:latin typeface="Aptos"/>
              </a:defRPr>
            </a:pPr>
            <a:r>
              <a:t>Persist the recommendation, analyst action, and audit trail.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